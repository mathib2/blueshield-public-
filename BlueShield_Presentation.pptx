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as Benitez Vera" userId="0925783b9e66c476" providerId="LiveId" clId="{89D3C8F2-B820-4EA0-B172-1EC826CDA681}"/>
    <pc:docChg chg="modSld">
      <pc:chgData name="Mathias Benitez Vera" userId="0925783b9e66c476" providerId="LiveId" clId="{89D3C8F2-B820-4EA0-B172-1EC826CDA681}" dt="2026-03-12T02:28:42.453" v="5" actId="1076"/>
      <pc:docMkLst>
        <pc:docMk/>
      </pc:docMkLst>
      <pc:sldChg chg="modSp mod">
        <pc:chgData name="Mathias Benitez Vera" userId="0925783b9e66c476" providerId="LiveId" clId="{89D3C8F2-B820-4EA0-B172-1EC826CDA681}" dt="2026-03-12T02:28:42.453" v="5" actId="1076"/>
        <pc:sldMkLst>
          <pc:docMk/>
          <pc:sldMk cId="0" sldId="263"/>
        </pc:sldMkLst>
        <pc:spChg chg="mod">
          <ac:chgData name="Mathias Benitez Vera" userId="0925783b9e66c476" providerId="LiveId" clId="{89D3C8F2-B820-4EA0-B172-1EC826CDA681}" dt="2026-03-12T02:28:22.103" v="0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athias Benitez Vera" userId="0925783b9e66c476" providerId="LiveId" clId="{89D3C8F2-B820-4EA0-B172-1EC826CDA681}" dt="2026-03-12T02:28:31.928" v="2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athias Benitez Vera" userId="0925783b9e66c476" providerId="LiveId" clId="{89D3C8F2-B820-4EA0-B172-1EC826CDA681}" dt="2026-03-12T02:28:25.981" v="1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thias Benitez Vera" userId="0925783b9e66c476" providerId="LiveId" clId="{89D3C8F2-B820-4EA0-B172-1EC826CDA681}" dt="2026-03-12T02:28:39.042" v="4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athias Benitez Vera" userId="0925783b9e66c476" providerId="LiveId" clId="{89D3C8F2-B820-4EA0-B172-1EC826CDA681}" dt="2026-03-12T02:28:42.453" v="5" actId="1076"/>
          <ac:spMkLst>
            <pc:docMk/>
            <pc:sldMk cId="0" sldId="263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BLUESHIELD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Calibri"/>
              </a:defRPr>
            </a:pPr>
            <a:r>
              <a:t>Bluetooth Security Monitoring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Raspberry Pi-Based Sniffing &amp; Jamming Research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A80"/>
                </a:solidFill>
                <a:latin typeface="Calibri"/>
              </a:defRPr>
            </a:pPr>
            <a:r>
              <a:t>Mathias Vera  |  Daniel Halbleib Jr  |  Andrew Sauls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Bluetooth devices are everywhere in modern workplaces — headphones, keyboards, speakers, fitness trackers. Yet most organizations have ZERO visibility into what Bluetooth devices are operating in their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291840" cy="25603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291840" cy="5486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5C"/>
                </a:solidFill>
                <a:latin typeface="Calibri"/>
              </a:defRPr>
            </a:pPr>
            <a:r>
              <a:t>Eavesdropping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Attackers can intercept audio from</a:t>
            </a:r>
            <a:br/>
            <a:r>
              <a:t>Bluetooth headsets and speakers</a:t>
            </a:r>
            <a:br/>
            <a:r>
              <a:t>used in sensitive meetings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926080"/>
            <a:ext cx="3291840" cy="25603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926080"/>
            <a:ext cx="329184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Unauthorized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Rogue devices can pair with</a:t>
            </a:r>
            <a:br/>
            <a:r>
              <a:t>company hardware, exfiltrating</a:t>
            </a:r>
            <a:br/>
            <a:r>
              <a:t>data through BT connections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926080"/>
            <a:ext cx="3291840" cy="256032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92608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BlueBorne Attacks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49039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Unpatched BT stacks are vulnerable</a:t>
            </a:r>
            <a:br/>
            <a:r>
              <a:t>to remote code execution without</a:t>
            </a:r>
            <a:br/>
            <a:r>
              <a:t>any user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WHO'S AT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Any organization where Bluetooth devices operate near sensitive data or conversations.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651760" cy="41148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Corporate Offices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Employees using wireless headphones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Bluetooth keyboards &amp; mice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Conference room speakers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Personal BYOD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651760" cy="41148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517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20440" y="237744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Finance &amp; 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Client-confidential calls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Sensitive document transfers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Trading floor communications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Regulatory compliance needs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51760" cy="41148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5176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0" y="2377440"/>
            <a:ext cx="411480" cy="4114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HIPAA-protected conversations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Medical IoT devices (BLE)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Patient data on wireless devices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Telemedicine endpoints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103120"/>
            <a:ext cx="2651760" cy="41148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2103120"/>
            <a:ext cx="2651760" cy="5486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81159" y="2377440"/>
            <a:ext cx="411480" cy="411480"/>
          </a:xfrm>
          <a:prstGeom prst="ellipse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117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&amp; Defense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Classified facility monitoring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SCIF perimeter security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Counter-intelligence operations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Insider threat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27432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743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Dedicated Raspberry Pi</a:t>
            </a:r>
            <a:br/>
            <a:r>
              <a:t>monitor placed in key areas.</a:t>
            </a:r>
            <a:br/>
            <a:r>
              <a:t>Passive BLE + Classic BT</a:t>
            </a:r>
            <a:br/>
            <a:r>
              <a:t>scanning via HCI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27432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73152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Real-time pattern detection.</a:t>
            </a:r>
            <a:br/>
            <a:r>
              <a:t>Identify unknown devices,</a:t>
            </a:r>
            <a:br/>
            <a:r>
              <a:t>anomalous behavior, and</a:t>
            </a:r>
            <a:br/>
            <a:r>
              <a:t>potential attack signatures.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2743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5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860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Instant admin alerts.</a:t>
            </a:r>
            <a:br/>
            <a:r>
              <a:t>Optional reactive jamming.</a:t>
            </a:r>
            <a:br/>
            <a:r>
              <a:t>Full audit logging for</a:t>
            </a:r>
            <a:br/>
            <a:r>
              <a:t>incident response.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Raspberry Pi 4/5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■  </a:t>
            </a:r>
            <a:r>
              <a:rPr dirty="0" err="1"/>
              <a:t>BlueZ</a:t>
            </a:r>
            <a:r>
              <a:rPr dirty="0"/>
              <a:t> (Linux BT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Python + Bleak (BLE)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■  </a:t>
            </a:r>
            <a:r>
              <a:rPr dirty="0" err="1"/>
              <a:t>HCItool</a:t>
            </a:r>
            <a:r>
              <a:rPr dirty="0"/>
              <a:t> + </a:t>
            </a:r>
            <a:r>
              <a:rPr dirty="0" err="1"/>
              <a:t>HCIdump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47548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■  Curses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JSON Logging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3840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EC0"/>
                </a:solidFill>
                <a:latin typeface="Calibri"/>
              </a:defRPr>
            </a:pPr>
            <a:r>
              <a:t>Research License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103120" cy="18288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Open-source for academic</a:t>
            </a:r>
            <a:br/>
            <a:r>
              <a:t>and security research use.</a:t>
            </a:r>
            <a:br/>
            <a:r>
              <a:t>Full access to scanner,</a:t>
            </a:r>
            <a:br/>
            <a:r>
              <a:t>jammer, and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51760" cy="3840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EC0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  <a:latin typeface="Calibri"/>
              </a:defRPr>
            </a:pPr>
            <a:r>
              <a:t>$299/unit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79" y="2651760"/>
            <a:ext cx="2103120" cy="18288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Pre-configured Raspberry Pi</a:t>
            </a:r>
            <a:br/>
            <a:r>
              <a:t>hardware + software.</a:t>
            </a:r>
            <a:br/>
            <a:r>
              <a:t>Technical support included.</a:t>
            </a:r>
            <a:br/>
            <a:r>
              <a:t>1 year of updates.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51760" cy="3840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EC0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$999/yr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651760"/>
            <a:ext cx="2103120" cy="18288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Multi-device deployment.</a:t>
            </a:r>
            <a:br/>
            <a:r>
              <a:t>Central management console.</a:t>
            </a:r>
            <a:br/>
            <a:r>
              <a:t>Custom alert integrations.</a:t>
            </a:r>
            <a:br/>
            <a:r>
              <a:t>Dedicated support.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651760" cy="3840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1371600"/>
            <a:ext cx="265176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AEC0"/>
                </a:solidFill>
                <a:latin typeface="Calibri"/>
              </a:defRPr>
            </a:pPr>
            <a:r>
              <a:t>Managed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F43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2651760"/>
            <a:ext cx="2103120" cy="18288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59" y="28346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Fully managed monitoring.</a:t>
            </a:r>
            <a:br/>
            <a:r>
              <a:t>24/7 SOC integration.</a:t>
            </a:r>
            <a:br/>
            <a:r>
              <a:t>Incident response support.</a:t>
            </a:r>
            <a:br/>
            <a:r>
              <a:t>Compliance reporting.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651760" cy="13716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Calibri"/>
              </a:defRPr>
            </a:pPr>
            <a:r>
              <a:t>&lt;5s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Alert Response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371600"/>
            <a:ext cx="2651760" cy="13716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508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76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40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Continuous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651760" cy="13716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BLE Device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371600"/>
            <a:ext cx="2651760" cy="13716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508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F43"/>
                </a:solidFill>
                <a:latin typeface="Calibri"/>
              </a:defRPr>
            </a:pPr>
            <a:r>
              <a:t>&lt;$50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Hardware Cost (RPi)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5486400" cy="14630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Continuous passive scanning detects every</a:t>
            </a:r>
            <a:br/>
            <a:r>
              <a:t>Bluetooth device the moment it appears.</a:t>
            </a:r>
            <a:br/>
            <a:r>
              <a:t>No gaps, no blind spots.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486400" cy="14630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108960"/>
            <a:ext cx="73152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Privacy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Identify and alert on devices that could be</a:t>
            </a:r>
            <a:br/>
            <a:r>
              <a:t>used to eavesdrop on sensitive conversations</a:t>
            </a:r>
            <a:br/>
            <a:r>
              <a:t>or exfiltrate data wirelessly.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5486400" cy="14630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73152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Complete JSON logging of every device seen,</a:t>
            </a:r>
            <a:br/>
            <a:r>
              <a:t>every alert raised, every action taken.</a:t>
            </a:r>
            <a:br/>
            <a:r>
              <a:t>Ready for auditors and incident response.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5486400" cy="14630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4846320"/>
            <a:ext cx="73152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Easy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492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Plug-and-play Raspberry Pi hardware.</a:t>
            </a:r>
            <a:br/>
            <a:r>
              <a:t>Terminal dashboard runs anywhere.</a:t>
            </a:r>
            <a:br/>
            <a:r>
              <a:t>No complex setup or training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DASHBOARD PREVIEW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19"/>
            <a:ext cx="10698480" cy="466344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164592" cy="164592"/>
          </a:xfrm>
          <a:prstGeom prst="ellipse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137160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63040" y="1371600"/>
            <a:ext cx="164592" cy="164592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1325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80"/>
                </a:solidFill>
                <a:latin typeface="Calibri"/>
              </a:defRPr>
            </a:pPr>
            <a:r>
              <a:t>BlueShield Terminal Dashboard v0.1.0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  BLUESHIELD v0.1.0  |  Bluetooth Security Monitor  |  2026-03-11 14:32:05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  Scanner: SCANNING    Jammer: OFF    Scans: 47    Interface: hci0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31136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78024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┌─ DEVICE SUMMARY ─────────────────────────────────────────────────┐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│ Total Devices:    12      Known: 8      Unknown: 4           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5C"/>
                </a:solidFill>
                <a:latin typeface="Consolas"/>
              </a:defRPr>
            </a:pPr>
            <a:r>
              <a:t>  │ Critical Alerts:  1       Warnings: 3                         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12464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  ADDRESS            NAME              TYPE     RSSI    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9352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5C"/>
                </a:solidFill>
                <a:latin typeface="Consolas"/>
              </a:defRPr>
            </a:pPr>
            <a:r>
              <a:t>  AA:BB:CC:DD:EE:08  SUSPICIOUS_DEV    ble      -80dBm  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5312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  AA:BB:CC:DD:EE:09  RPi-Attacker      classic  -90dBm  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0016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  AA:BB:CC:DD:EE:05  Unknown Device    ble      -70dBm  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AA:BB:CC:DD:EE:01  iPhone 14 Pro     ble      -45dBm   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AA:BB:CC:DD:EE:02  AirPods Pro       ble      -30dBm   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AA:BB:CC:DD:EE:06  Logitech MX Keys  ble      -35dBm   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8756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934456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[S]can  [J]am On/Off  [W]hitelist  [E]xport  [R]eset  [Q]uit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CONSTRAINTS &amp; COMPETITION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FCC regulations restrict jamming in production environments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Bluetooth 5.x frequency hopping limits passive sniffing coverage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Raspberry Pi range limited to ~30m without external antenna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Requires root/admin access for HCI-level operations</a:t>
            </a:r>
          </a:p>
          <a:p>
            <a:pPr>
              <a:spcAft>
                <a:spcPts val="800"/>
              </a:spcAft>
              <a:defRPr sz="1300">
                <a:solidFill>
                  <a:srgbClr val="A0AEC0"/>
                </a:solidFill>
                <a:latin typeface="Calibri"/>
              </a:defRPr>
            </a:pPr>
            <a:r>
              <a:t>Real-time processing limited by RPi CPU on high-density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12344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7315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Kismet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General wireless monitor.</a:t>
            </a:r>
            <a:br/>
            <a:r>
              <a:t>No BT-specific alerting.</a:t>
            </a:r>
            <a:br/>
            <a:r>
              <a:t>Complex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291840"/>
            <a:ext cx="5029200" cy="12344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7315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Ubertooth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39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Powerful BT hardware.</a:t>
            </a:r>
            <a:br/>
            <a:r>
              <a:t>$120+ per unit.</a:t>
            </a:r>
            <a:br/>
            <a:r>
              <a:t>Requires deep expertise.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3413408"/>
            <a:ext cx="5029200" cy="123444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3385" y="3413408"/>
            <a:ext cx="7315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343368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Enterprise WIDS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41244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Cisco, Aruba solutions.</a:t>
            </a:r>
            <a:br>
              <a:rPr dirty="0"/>
            </a:br>
            <a:r>
              <a:rPr dirty="0"/>
              <a:t>$10K+ per deployment.</a:t>
            </a:r>
            <a:br>
              <a:rPr dirty="0"/>
            </a:br>
            <a:r>
              <a:rPr dirty="0"/>
              <a:t>Not BT-focused.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56632"/>
            <a:ext cx="10698480" cy="118872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06984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BLUESHIELD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Low-cost (&lt;$50 hardware)  ●  Purpose-built for BT security  ●  Research-grade + commercial path  ●  Open architecture for customization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Raspberry Pi 4/5 units for testing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External Bluetooth antennas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USB BT 5.0+ adapters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Protective cases for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Software &amp;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Cloud hosting for central dashboard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Security testing lab access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Code signing certificates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CI/CD pipeline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00" cy="2286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73152" cy="2286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Research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$400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Controlled RF testing environment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Various BT devices for testing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Security audit / pentest review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Academic publication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486400" cy="2286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73152" cy="2286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Product packaging &amp; branding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Demo units for conferences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Marketing website</a:t>
            </a:r>
          </a:p>
          <a:p>
            <a:pPr>
              <a:spcAft>
                <a:spcPts val="800"/>
              </a:spcAft>
              <a:defRPr sz="1200">
                <a:solidFill>
                  <a:srgbClr val="A0AEC0"/>
                </a:solidFill>
                <a:latin typeface="Calibri"/>
              </a:defRPr>
            </a:pPr>
            <a:r>
              <a:t>Legal review (FCC compliance)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852160"/>
            <a:ext cx="3931920" cy="45720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5897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TOTAL ASK:  ~$2,000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BLUESHIELD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Calibri"/>
              </a:defRPr>
            </a:pPr>
            <a:r>
              <a:t>Securing the Invisible Wireless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Research-grade Bluetooth security monitoring, built for the real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  |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A80"/>
                </a:solidFill>
                <a:latin typeface="Calibri"/>
              </a:defRPr>
            </a:pPr>
            <a:r>
              <a:t>Mathias Vera  |  Daniel Halbleib Jr  |  Andrew Sauls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946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Mathias Benitez Vera</cp:lastModifiedBy>
  <cp:revision>1</cp:revision>
  <dcterms:created xsi:type="dcterms:W3CDTF">2013-01-27T09:14:16Z</dcterms:created>
  <dcterms:modified xsi:type="dcterms:W3CDTF">2026-03-12T02:35:59Z</dcterms:modified>
  <cp:category/>
</cp:coreProperties>
</file>