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91695" cy="109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65760"/>
            <a:ext cx="1995587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BLUETOOTH SECURITY MONITORING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Protecting Your Wireless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Calibri"/>
              </a:defRPr>
            </a:pPr>
            <a:r>
              <a:t>Research-Grade Sniffing &amp; Jamming Device  |  Raspberry Pi Powered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A6A80"/>
                </a:solidFill>
                <a:latin typeface="Calibri"/>
              </a:defRPr>
            </a:pPr>
            <a:r>
              <a:t>Mathias Vera   •   Daniel Halbleib Jr   •   Andrew Sauls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A80"/>
                </a:solidFill>
                <a:latin typeface="Calibri"/>
              </a:defRPr>
            </a:pPr>
            <a:r>
              <a:t>NABC Presentation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4251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86868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Bluetooth devices are everywhere in modern workplaces — headphones, keyboards, speakers, fitness trackers. Yet most organizations have ZERO visibility into what Bluetooth devices are operating in their space.</a:t>
            </a:r>
          </a:p>
        </p:txBody>
      </p:sp>
      <p:pic>
        <p:nvPicPr>
          <p:cNvPr id="6" name="Picture 5" descr="bt_h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31520"/>
            <a:ext cx="3840480" cy="19326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3108960"/>
            <a:ext cx="3291840" cy="25603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291840" cy="5486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3B5C"/>
                </a:solidFill>
                <a:latin typeface="Calibri"/>
              </a:defRPr>
            </a:pPr>
            <a:r>
              <a:t>Eavesdropping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Attackers intercept audio from</a:t>
            </a:r>
            <a:br/>
            <a:r>
              <a:t>BT headsets and speakers used</a:t>
            </a:r>
            <a:br/>
            <a:r>
              <a:t>in sensitive meetings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108960"/>
            <a:ext cx="3291840" cy="25603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108960"/>
            <a:ext cx="329184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F43"/>
                </a:solidFill>
                <a:latin typeface="Calibri"/>
              </a:defRPr>
            </a:pPr>
            <a:r>
              <a:t>Unauthorized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Rogue devices pair with company</a:t>
            </a:r>
            <a:br/>
            <a:r>
              <a:t>hardware, exfiltrating data</a:t>
            </a:r>
            <a:br/>
            <a:r>
              <a:t>through BT connections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108960"/>
            <a:ext cx="3291840" cy="25603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10896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BlueBorne Attacks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Unpatched BT stacks are vulnerable</a:t>
            </a:r>
            <a:br/>
            <a:r>
              <a:t>to remote code execution without</a:t>
            </a:r>
            <a:br/>
            <a:r>
              <a:t>any user interaction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4251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WHO'S AT RISK?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86868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Any organization where Bluetooth devices operate near sensitive data or conversations.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97480" cy="4389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Corporate Offices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2148840" cy="13716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Wireless headphones &amp; speakers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BT keyboards &amp; mice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Conference room devices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BYOD personal phones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697480" cy="4389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828800"/>
            <a:ext cx="269748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Finance &amp; Legal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79" y="2423160"/>
            <a:ext cx="2148840" cy="13716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6060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Client-confidential calls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Sensitive document transfers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Trading floor comms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Regulatory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97480" cy="4389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69748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423160"/>
            <a:ext cx="2148840" cy="13716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HIPAA-protected conversations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Medical IoT devices (BLE)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Patient data on wireless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Telemedicine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828800"/>
            <a:ext cx="2697480" cy="43891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828800"/>
            <a:ext cx="2697480" cy="5486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20116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Government &amp; Defense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423160"/>
            <a:ext cx="2148840" cy="13716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26060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Classified facility monitoring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SCIF perimeter security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Counter-intelligence ops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Insider threat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4251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86868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29260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2926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Dedicated Raspberry Pi monitor</a:t>
            </a:r>
            <a:br/>
            <a:r>
              <a:t>placed in key areas. Passive</a:t>
            </a:r>
            <a:br/>
            <a:r>
              <a:t>BLE + Classic BT scanning</a:t>
            </a:r>
            <a:br/>
            <a:r>
              <a:t>via HCI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280160"/>
            <a:ext cx="3383280" cy="29260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280160"/>
            <a:ext cx="73152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103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Real-time pattern detection.</a:t>
            </a:r>
            <a:br/>
            <a:r>
              <a:t>Identify unknown devices,</a:t>
            </a:r>
            <a:br/>
            <a:r>
              <a:t>anomalous behavior, and</a:t>
            </a:r>
            <a:br/>
            <a:r>
              <a:t>potential attack signatures.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383280" cy="29260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73152" cy="292608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417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B5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103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Instant admin alerts via</a:t>
            </a:r>
            <a:br/>
            <a:r>
              <a:t>web dashboard. Optional</a:t>
            </a:r>
            <a:br/>
            <a:r>
              <a:t>reactive jamming. Full audit</a:t>
            </a:r>
            <a:br/>
            <a:r>
              <a:t>logging for incident response.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Raspberry Pi 4/5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BlueZ (Linux BT stack)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Python + Bleak (BLE)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HCItool + HCIdump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Flask Web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■  JSON Audit Logging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4251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WEB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86868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00" cy="466344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164592" cy="164592"/>
          </a:xfrm>
          <a:prstGeom prst="ellipse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28016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1280160"/>
            <a:ext cx="164592" cy="164592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A80"/>
                </a:solidFill>
                <a:latin typeface="Calibri"/>
              </a:defRPr>
            </a:pPr>
            <a:r>
              <a:t>BlueShield Web Dashboard  |  http://localhost:8080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4592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  BLUESHIELD v0.1.0  |  Bluetooth Security Monitor  |  2026-03-11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onsolas"/>
              </a:defRPr>
            </a:pPr>
            <a:r>
              <a:t>  Scanner: SCANNING    Jammer: OFF    Scans: 47    Interface: hci0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68680" y="246888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80"/>
                </a:solidFill>
                <a:latin typeface="Consolas"/>
              </a:defRPr>
            </a:pPr>
            <a:r>
              <a:t>  ┌─ DEVICE SUMMARY ───────────────────────────┐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4320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│ Total: 13    Known: 5    Unknown: 8    Alerts: 3  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80"/>
                </a:solidFill>
                <a:latin typeface="Consolas"/>
              </a:defRPr>
            </a:pPr>
            <a:r>
              <a:t>  └─────────────────────────────────────────────┘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91839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onsolas"/>
              </a:defRPr>
            </a:pPr>
            <a:r>
              <a:t>  ADDRESS            NAME             TYPE    RSSI    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80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  C9:FA:86:C0:DC:4E  Amazfit Band 5   ble    -83dBm   WARNING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onsolas"/>
              </a:defRPr>
            </a:pPr>
            <a:r>
              <a:t>  BE:67:01:F3:0C:21  ELK-BLEDOM01     ble    -62dBm  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3B5C"/>
                </a:solidFill>
                <a:latin typeface="Consolas"/>
              </a:defRPr>
            </a:pPr>
            <a:r>
              <a:t>  EC:47:0C:4B:D1:3F  Platco PR1       ble    -65dBm  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37759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  63:BD:DD:71:5F:63  Apple Device     ble    -49dBm   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1208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  EC:B8:3B:E7:7A:E7  Apple Device     ble    -47dBm   OK</a:t>
            </a:r>
          </a:p>
        </p:txBody>
      </p:sp>
      <p:pic>
        <p:nvPicPr>
          <p:cNvPr id="25" name="Picture 24" descr="app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188720"/>
            <a:ext cx="2417873" cy="47548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4251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86868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41148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AEC0"/>
                </a:solidFill>
                <a:latin typeface="Calibri"/>
              </a:defRPr>
            </a:pPr>
            <a:r>
              <a:t>Research License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D4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2148840" cy="13716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Open-source for academic</a:t>
            </a:r>
            <a:br/>
            <a:r>
              <a:t>and security research.</a:t>
            </a:r>
            <a:br/>
            <a:r>
              <a:t>Full scanner + dashboard.</a:t>
            </a:r>
            <a:br/>
            <a:r>
              <a:t>Community supported.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97480" cy="41148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002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AEC0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9659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E676"/>
                </a:solidFill>
                <a:latin typeface="Calibri"/>
              </a:defRPr>
            </a:pPr>
            <a:r>
              <a:t>$299/unit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79" y="2651760"/>
            <a:ext cx="2148840" cy="13716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8346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Pre-configured RPi hardware</a:t>
            </a:r>
            <a:br/>
            <a:r>
              <a:t>+ software bundle.</a:t>
            </a:r>
            <a:br/>
            <a:r>
              <a:t>Technical support.</a:t>
            </a:r>
            <a:br/>
            <a:r>
              <a:t>1 year of updates.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697480" cy="41148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6974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AEC0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8B5CF6"/>
                </a:solidFill>
                <a:latin typeface="Calibri"/>
              </a:defRPr>
            </a:pPr>
            <a:r>
              <a:t>$999/yr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651760"/>
            <a:ext cx="2148840" cy="13716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Multi-device deployment.</a:t>
            </a:r>
            <a:br/>
            <a:r>
              <a:t>Central management.</a:t>
            </a:r>
            <a:br/>
            <a:r>
              <a:t>Custom alert integrations.</a:t>
            </a:r>
            <a:br/>
            <a:r>
              <a:t>Dedicated support.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371600"/>
            <a:ext cx="2697480" cy="41148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371600"/>
            <a:ext cx="269748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16002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AEC0"/>
                </a:solidFill>
                <a:latin typeface="Calibri"/>
              </a:defRPr>
            </a:pPr>
            <a:r>
              <a:t>Managed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19659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9F43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651760"/>
            <a:ext cx="2148840" cy="13716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8346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Fully managed monitoring.</a:t>
            </a:r>
            <a:br/>
            <a:r>
              <a:t>24/7 SOC integration.</a:t>
            </a:r>
            <a:br/>
            <a:r>
              <a:t>Incident response.</a:t>
            </a:r>
            <a:br/>
            <a:r>
              <a:t>Compliance reporting.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4251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86868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97480" cy="12801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1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4FF"/>
                </a:solidFill>
                <a:latin typeface="Calibri"/>
              </a:defRPr>
            </a:pPr>
            <a:r>
              <a:t>&lt;5s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Alert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2697480" cy="12801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41731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E676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2697480" cy="12801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1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8B5CF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BLE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280160"/>
            <a:ext cx="2697480" cy="128016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41731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9F43"/>
                </a:solidFill>
                <a:latin typeface="Calibri"/>
              </a:defRPr>
            </a:pPr>
            <a:r>
              <a:t>&lt;$50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19456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Calibri"/>
              </a:defRPr>
            </a:pPr>
            <a:r>
              <a:t>Hardware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486400" cy="1554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Continuous passive scanning detects every Bluetooth</a:t>
            </a:r>
            <a:br/>
            <a:r>
              <a:t>device the moment it appears. No gaps, no blind spots.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486400" cy="1554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73152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Privacy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290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Identify devices that could eavesdrop on sensitive</a:t>
            </a:r>
            <a:br/>
            <a:r>
              <a:t>conversations or exfiltrate data wirelessly.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5486400" cy="1554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73152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Audit &amp;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Complete JSON logging of every device, alert, and</a:t>
            </a:r>
            <a:br/>
            <a:r>
              <a:t>action. Ready for auditors and incident response.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754880"/>
            <a:ext cx="5486400" cy="155448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754880"/>
            <a:ext cx="73152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Easy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57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Plug-and-play RPi hardware. Web dashboard runs in</a:t>
            </a:r>
            <a:br/>
            <a:r>
              <a:t>any browser. No complex setup or training needed.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4251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CONSTRAINTS &amp; COMPETITION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86868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9F43"/>
                </a:solidFill>
                <a:latin typeface="Calibri"/>
              </a:defRPr>
            </a:pPr>
            <a:r>
              <a:t>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FCC regulations restrict jamming in production use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BT 5.x frequency hopping limits passive sniffing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RPi range limited to ~30m without external antenna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Requires root access for HCI-level operations</a:t>
            </a:r>
          </a:p>
          <a:p>
            <a:pPr>
              <a:spcAft>
                <a:spcPts val="600"/>
              </a:spcAft>
              <a:defRPr sz="13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CPU limits on high-density BLE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5029200" cy="11887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Kismet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General wireless monitor. No BT-specific</a:t>
            </a:r>
            <a:br/>
            <a:r>
              <a:t>alerting. Complex setup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154680"/>
            <a:ext cx="5029200" cy="11887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15468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2461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Ubertooth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Powerful BT hardware. $120+ per unit.</a:t>
            </a:r>
            <a:br/>
            <a:r>
              <a:t>Requires deep technical expertise.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572000"/>
            <a:ext cx="5029200" cy="118872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57200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6634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Enterprise WIDS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9834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Cisco/Aruba solutions. $10K+ per</a:t>
            </a:r>
            <a:br/>
            <a:r>
              <a:t>deployment. Not Bluetooth-focused.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20640"/>
            <a:ext cx="106984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BLUESHIELD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23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  <a:latin typeface="Calibri"/>
              </a:defRPr>
            </a:pPr>
            <a:r>
              <a:t>Low-cost (&lt;$50 hardware)  ●  Purpose-built for BT security  ●  Research-grade + commercial path  ●  Open 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544251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WE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868680"/>
            <a:ext cx="13716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2860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898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00D4FF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Raspberry Pi 4/5 units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External BT antennas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USB BT 5.0+ adapters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Protective deployment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22860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89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Software &amp;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3898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8B5CF6"/>
                </a:solidFill>
                <a:latin typeface="Calibri"/>
              </a:defRPr>
            </a:pPr>
            <a:r>
              <a:t>$300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Cloud hosting for dashboard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Security testing lab access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Code signing certificates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CI/CD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79"/>
            <a:ext cx="5486400" cy="22860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79"/>
            <a:ext cx="73152" cy="2286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502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Research &amp;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5020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00E676"/>
                </a:solidFill>
                <a:latin typeface="Calibri"/>
              </a:defRPr>
            </a:pPr>
            <a:r>
              <a:t>$400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1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Controlled RF test environment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Various BT devices for testing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Security audit / pentest review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Academic publication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79"/>
            <a:ext cx="5486400" cy="22860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79"/>
            <a:ext cx="73152" cy="2286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502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95020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FF9F43"/>
                </a:solidFill>
                <a:latin typeface="Calibri"/>
              </a:defRPr>
            </a:pPr>
            <a:r>
              <a:t>$800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1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Product packaging &amp; branding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Demo units for conferences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Marketing website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  <a:latin typeface="Calibri"/>
              </a:defRPr>
              <a:buFont typeface="Arial"/>
              <a:buChar char="●"/>
            </a:pPr>
            <a:r>
              <a:t>Legal review (FCC compliance)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5897880"/>
            <a:ext cx="3931920" cy="45720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5943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TOTAL ASK:  ~$2,000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09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74320"/>
            <a:ext cx="1995587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  <a:latin typeface="Calibri"/>
              </a:defRPr>
            </a:pPr>
            <a:r>
              <a:t>SECURING THE INVISIBLE WIRELESS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A6A80"/>
                </a:solidFill>
                <a:latin typeface="Calibri"/>
              </a:defRPr>
            </a:pPr>
            <a:r>
              <a:t>Mathias Vera   •   Daniel Halbleib Jr   •   Andrew Sauls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A80"/>
                </a:solidFill>
                <a:latin typeface="Calibri"/>
              </a:defRPr>
            </a:pPr>
            <a:r>
              <a:t>github.com/your-repo  |  blueshield@security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